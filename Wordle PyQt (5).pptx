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sldIdLst>
    <p:sldId id="256" r:id="rId3"/>
    <p:sldId id="257" r:id="rId4"/>
    <p:sldId id="258" r:id="rId5"/>
    <p:sldId id="269" r:id="rId6"/>
    <p:sldId id="259" r:id="rId7"/>
    <p:sldId id="267" r:id="rId8"/>
    <p:sldId id="268" r:id="rId9"/>
    <p:sldId id="265" r:id="rId10"/>
    <p:sldId id="271" r:id="rId11"/>
    <p:sldId id="270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02716-ED50-4757-A34A-7056A03157C3}" v="12" dt="2025-11-23T21:16:22.873"/>
    <p1510:client id="{4EFA384A-2826-4BCD-95F5-6200F1E9D20A}" v="337" dt="2025-11-22T19:02:48.096"/>
    <p1510:client id="{CAF464FF-6BA9-43C1-8DBD-CB7A1C766E3C}" v="81" dt="2025-11-21T21:23:09.700"/>
    <p1510:client id="{D572F4FA-C40F-481B-BB5E-3487A139A573}" v="143" dt="2025-11-22T20:32:41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10;p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713240"/>
            <a:ext cx="7600680" cy="28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4;p11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55;p1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28808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0;p1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" name="Google Shape;61;p1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50020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320688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606132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320688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606132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320688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606132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6;p1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" name="Google Shape;77;p1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207880"/>
            <a:ext cx="2471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80;p15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Google Shape;81;p1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6"/>
          <p:cNvPicPr/>
          <p:nvPr/>
        </p:nvPicPr>
        <p:blipFill>
          <a:blip r:embed="rId2"/>
          <a:srcRect l="12361" t="6762" r="823" b="642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5;p16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8;p17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" name="Google Shape;89;p1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8600" y="264960"/>
            <a:ext cx="4303800" cy="205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94;p1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1205280"/>
            <a:ext cx="4322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9;p19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" name="Google Shape;100;p1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40516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09;p20"/>
          <p:cNvPicPr/>
          <p:nvPr/>
        </p:nvPicPr>
        <p:blipFill>
          <a:blip r:embed="rId2"/>
          <a:srcRect l="14225" t="13766" r="731" b="1191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Google Shape;110;p20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4;p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5;p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1196280"/>
            <a:ext cx="698472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228600" y="3396960"/>
            <a:ext cx="123552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121;p21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5" name="Google Shape;122;p2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618880" y="186696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3162240"/>
            <a:ext cx="47523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5618880" y="54468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30;p22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0" name="Google Shape;131;p2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2672280"/>
            <a:ext cx="534384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Google Shape;134;p22"/>
          <p:cNvSpPr/>
          <p:nvPr/>
        </p:nvSpPr>
        <p:spPr>
          <a:xfrm>
            <a:off x="6395760" y="392400"/>
            <a:ext cx="25192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36;p2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138;p24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20;p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" name="Google Shape;21;p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5;p5"/>
          <p:cNvPicPr/>
          <p:nvPr/>
        </p:nvPicPr>
        <p:blipFill>
          <a:blip r:embed="rId2"/>
          <a:srcRect l="10261" t="8058" r="-2888" b="-68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Google Shape;26;p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3;p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6;p7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5" name="Google Shape;37;p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351000"/>
            <a:ext cx="4936320" cy="142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42;p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9" name="Google Shape;43;p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46;p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2" name="Google Shape;47;p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4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47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1525046"/>
            <a:ext cx="760068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latin typeface="Century Gothic"/>
                <a:cs typeface="Times New Roman"/>
              </a:rPr>
              <a:t>Обучающий</a:t>
            </a:r>
            <a:r>
              <a:rPr lang="en-US" b="1" dirty="0">
                <a:latin typeface="Century Gothic"/>
                <a:cs typeface="Times New Roman"/>
              </a:rPr>
              <a:t> Wordle </a:t>
            </a:r>
            <a:endParaRPr lang="ru-RU" b="1">
              <a:latin typeface="Century Gothic"/>
              <a:cs typeface="Times New Roman"/>
            </a:endParaRPr>
          </a:p>
          <a:p>
            <a:pPr>
              <a:lnSpc>
                <a:spcPct val="80000"/>
              </a:lnSpc>
              <a:tabLst>
                <a:tab pos="0" algn="l"/>
              </a:tabLst>
            </a:pPr>
            <a:endParaRPr lang="en-US" sz="5400" b="1" dirty="0">
              <a:latin typeface="Century Gothic"/>
              <a:cs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085898" y="4584204"/>
            <a:ext cx="6060273" cy="44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dirty="0" err="1">
                <a:solidFill>
                  <a:schemeClr val="dk1"/>
                </a:solidFill>
                <a:latin typeface="Century Gothic"/>
              </a:rPr>
              <a:t>Выполнил</a:t>
            </a:r>
            <a:r>
              <a:rPr lang="en-US" sz="2000" dirty="0">
                <a:solidFill>
                  <a:schemeClr val="dk1"/>
                </a:solidFill>
                <a:latin typeface="Century Gothic"/>
              </a:rPr>
              <a:t>: </a:t>
            </a:r>
            <a:r>
              <a:rPr lang="en-US" sz="2000" dirty="0" err="1">
                <a:solidFill>
                  <a:schemeClr val="dk1"/>
                </a:solidFill>
                <a:latin typeface="Century Gothic"/>
              </a:rPr>
              <a:t>Ташкараев</a:t>
            </a:r>
            <a:r>
              <a:rPr lang="en-US" sz="20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entury Gothic"/>
              </a:rPr>
              <a:t>Руслан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7052" y="258756"/>
            <a:ext cx="5805066" cy="7192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Что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 </a:t>
            </a: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такое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 Wordle?</a:t>
            </a:r>
            <a:endParaRPr lang="fr-FR" b="1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065917" y="1081064"/>
            <a:ext cx="5287716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Wordle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-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непростая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игра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, в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которой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нужно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угадать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определенное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слово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за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>
                <a:solidFill>
                  <a:schemeClr val="dk1"/>
                </a:solidFill>
                <a:latin typeface="Century Gothic"/>
                <a:ea typeface="Work Sans"/>
              </a:rPr>
              <a:t>6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попыток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.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Буквы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подсвечиваются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определенным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цветом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в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зависимости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от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того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,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угадал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пользователь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или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нет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Work Sans"/>
              </a:rPr>
              <a:t>.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entury Gothic"/>
              <a:ea typeface="Dotum"/>
            </a:endParaRPr>
          </a:p>
        </p:txBody>
      </p:sp>
      <p:pic>
        <p:nvPicPr>
          <p:cNvPr id="3" name="Рисунок 2" descr="Изображение выглядит как снимок экрана, текст, прямоугольный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19335A-9B8D-ED18-E511-04DB11D3B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1" y="1083192"/>
            <a:ext cx="3834367" cy="38343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5668687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Цель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 </a:t>
            </a: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проекта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 и </a:t>
            </a: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идея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 </a:t>
            </a: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игры</a:t>
            </a:r>
            <a:endParaRPr lang="fr-FR" b="1" u="none" strike="noStrike" dirty="0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Основная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цель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проекта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—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создать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интерактивную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и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удобную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версию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игры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Work Sans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entury Gothic"/>
                <a:ea typeface="Work Sans"/>
              </a:rPr>
              <a:t>Wordle</a:t>
            </a:r>
            <a:r>
              <a:rPr lang="en-US" sz="1800" i="1" dirty="0">
                <a:solidFill>
                  <a:schemeClr val="dk1"/>
                </a:solidFill>
                <a:latin typeface="Century Gothic"/>
                <a:ea typeface="Work Sans"/>
              </a:rPr>
              <a:t> 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на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платформе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PyQt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.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Игра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позволяет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пользователям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угадывать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слова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за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Work Sans"/>
              </a:rPr>
              <a:t>меньшее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количество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ходов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,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что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развивает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логику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и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словарный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запас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entury Gothic"/>
                <a:ea typeface="Work Sans"/>
              </a:rPr>
              <a:t>.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entury Gothic"/>
              <a:ea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ED28-C47F-AB1A-8F28-77F5C28E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>
            <a:extLst>
              <a:ext uri="{FF2B5EF4-FFF2-40B4-BE49-F238E27FC236}">
                <a16:creationId xmlns:a16="http://schemas.microsoft.com/office/drawing/2014/main" id="{A2E8546F-ED61-4D6D-B081-E44786FA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3885"/>
            <a:ext cx="5668687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chemeClr val="dk1"/>
                </a:solidFill>
                <a:latin typeface="Century Gothic"/>
              </a:rPr>
              <a:t>Значимость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entury Gothic"/>
              </a:rPr>
              <a:t>английского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entury Gothic"/>
              </a:rPr>
              <a:t>языка</a:t>
            </a:r>
            <a:endParaRPr lang="en-US" b="1" u="none" strike="noStrike" dirty="0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2">
            <a:extLst>
              <a:ext uri="{FF2B5EF4-FFF2-40B4-BE49-F238E27FC236}">
                <a16:creationId xmlns:a16="http://schemas.microsoft.com/office/drawing/2014/main" id="{D2ABB26F-7384-9D6E-6EE1-2268BC1D900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Сейчас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в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нашей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жизни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английский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находится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практически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везде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, в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том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числе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и в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программировании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.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Поэтому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игра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будет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полезна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и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для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изучения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языка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в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этой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</a:rPr>
              <a:t>сфере</a:t>
            </a:r>
            <a:r>
              <a:rPr lang="en-US" sz="1800" dirty="0">
                <a:solidFill>
                  <a:schemeClr val="dk1"/>
                </a:solidFill>
                <a:latin typeface="Century Gothic"/>
              </a:rPr>
              <a:t>.</a:t>
            </a:r>
            <a:endParaRPr lang="en-US" sz="1800">
              <a:solidFill>
                <a:schemeClr val="dk1"/>
              </a:solidFill>
              <a:latin typeface="Century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755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99" y="-397501"/>
            <a:ext cx="9454875" cy="132967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b="1" err="1">
                <a:solidFill>
                  <a:schemeClr val="dk1"/>
                </a:solidFill>
                <a:latin typeface="Century Gothic"/>
              </a:rPr>
              <a:t>Интерфейс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: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стартовое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окно</a:t>
            </a:r>
            <a:endParaRPr lang="en-US" b="1">
              <a:solidFill>
                <a:schemeClr val="dk1"/>
              </a:solidFill>
              <a:latin typeface="Century Gothic"/>
            </a:endParaRPr>
          </a:p>
        </p:txBody>
      </p:sp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EB94D1-9D69-8C93-33D5-444984582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84" y="1029863"/>
            <a:ext cx="3655176" cy="428625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99B725-646A-ABA7-0837-0D6F0DA49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99" y="1027205"/>
            <a:ext cx="3855534" cy="4136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ED39-E1CA-F17E-21BC-ED69AEE4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>
            <a:extLst>
              <a:ext uri="{FF2B5EF4-FFF2-40B4-BE49-F238E27FC236}">
                <a16:creationId xmlns:a16="http://schemas.microsoft.com/office/drawing/2014/main" id="{E8ED6D27-7DE6-6116-2C2F-3BEAC38D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" y="-416982"/>
            <a:ext cx="7746869" cy="134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b="1" err="1">
                <a:solidFill>
                  <a:schemeClr val="dk1"/>
                </a:solidFill>
                <a:latin typeface="Century Gothic"/>
              </a:rPr>
              <a:t>Интерфейс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: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игровое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окно</a:t>
            </a:r>
            <a:endParaRPr lang="en-US" b="1">
              <a:solidFill>
                <a:schemeClr val="dk1"/>
              </a:solidFill>
              <a:latin typeface="Century Gothic"/>
            </a:endParaRPr>
          </a:p>
        </p:txBody>
      </p:sp>
      <p:pic>
        <p:nvPicPr>
          <p:cNvPr id="3" name="Рисунок 2" descr="Изображение выглядит как текст, снимок экрана, калькуля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289B76-6539-F4C9-83D4-ADFBB175D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1" y="930350"/>
            <a:ext cx="3890022" cy="4405866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калькулятор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ADCDA0-23C2-78F7-A9FE-107F0A57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045" y="930349"/>
            <a:ext cx="3989532" cy="44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5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92C3-3A00-0687-E54D-421EE799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>
            <a:extLst>
              <a:ext uri="{FF2B5EF4-FFF2-40B4-BE49-F238E27FC236}">
                <a16:creationId xmlns:a16="http://schemas.microsoft.com/office/drawing/2014/main" id="{DF01C774-DE75-22EA-AD85-B35E4FD3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" y="-438548"/>
            <a:ext cx="7746869" cy="134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b="1" err="1">
                <a:solidFill>
                  <a:schemeClr val="dk1"/>
                </a:solidFill>
                <a:latin typeface="Century Gothic"/>
              </a:rPr>
              <a:t>Интерфейс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: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игровое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err="1">
                <a:solidFill>
                  <a:schemeClr val="dk1"/>
                </a:solidFill>
                <a:latin typeface="Century Gothic"/>
              </a:rPr>
              <a:t>окно</a:t>
            </a:r>
            <a:endParaRPr lang="en-US" b="1">
              <a:solidFill>
                <a:schemeClr val="dk1"/>
              </a:solidFill>
              <a:latin typeface="Century Gothic"/>
            </a:endParaRPr>
          </a:p>
        </p:txBody>
      </p:sp>
      <p:pic>
        <p:nvPicPr>
          <p:cNvPr id="2" name="Рисунок 1" descr="Изображение выглядит как текст, снимок экрана, калькулятор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593385-9A93-6B8E-B551-FBED5B52D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2" y="907257"/>
            <a:ext cx="3844440" cy="432911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калькуля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D0E299-7B72-4121-C4F1-408E058C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223" y="907256"/>
            <a:ext cx="3698431" cy="40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0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28600" y="816694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dirty="0" err="1">
                <a:solidFill>
                  <a:schemeClr val="dk1"/>
                </a:solidFill>
                <a:latin typeface="Century Gothic"/>
              </a:rPr>
              <a:t>Уникальность</a:t>
            </a:r>
            <a:endParaRPr lang="en-US" b="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228500" y="1958264"/>
            <a:ext cx="5555502" cy="216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Уменьшенное количество полей для повышения интереса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Обучающий формат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Рейтинговая система</a:t>
            </a:r>
            <a:endParaRPr lang="ru-RU" sz="1800">
              <a:solidFill>
                <a:schemeClr val="dk1"/>
              </a:solidFill>
              <a:latin typeface="Century Gothic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Возможность скачать файл со словами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Усложненный режим</a:t>
            </a:r>
            <a:endParaRPr lang="ru-RU" sz="1800">
              <a:solidFill>
                <a:schemeClr val="dk1"/>
              </a:solidFill>
              <a:latin typeface="Century Gothic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800" dirty="0">
              <a:solidFill>
                <a:schemeClr val="dk1"/>
              </a:solidFill>
              <a:latin typeface="Century Gothic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0402-FF71-1284-141D-91EE51FA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>
            <a:extLst>
              <a:ext uri="{FF2B5EF4-FFF2-40B4-BE49-F238E27FC236}">
                <a16:creationId xmlns:a16="http://schemas.microsoft.com/office/drawing/2014/main" id="{649962EE-A1FC-C0D3-A245-82F9E9EF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16694"/>
            <a:ext cx="8421507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chemeClr val="dk1"/>
                </a:solidFill>
                <a:latin typeface="Century Gothic"/>
              </a:rPr>
              <a:t>Возможности</a:t>
            </a:r>
            <a:r>
              <a:rPr lang="en-US" b="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entury Gothic"/>
              </a:rPr>
              <a:t>расширения</a:t>
            </a:r>
            <a:endParaRPr lang="ru-RU" dirty="0" err="1">
              <a:solidFill>
                <a:schemeClr val="dk1"/>
              </a:solidFill>
            </a:endParaRPr>
          </a:p>
        </p:txBody>
      </p:sp>
      <p:sp>
        <p:nvSpPr>
          <p:cNvPr id="107" name="PlaceHolder 2">
            <a:extLst>
              <a:ext uri="{FF2B5EF4-FFF2-40B4-BE49-F238E27FC236}">
                <a16:creationId xmlns:a16="http://schemas.microsoft.com/office/drawing/2014/main" id="{91FF9A52-1361-E1A4-62E9-5D28521A9CD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500" y="1958264"/>
            <a:ext cx="5555502" cy="216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Расширение списка слов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Добавление новых уровней сложности с большим количеством букв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Добавление новых усложнений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Century Gothic"/>
                <a:ea typeface="Malgun Gothic"/>
                <a:cs typeface="Arial"/>
              </a:rPr>
              <a:t>• Поддержка других языков</a:t>
            </a:r>
            <a:endParaRPr lang="ru-RU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993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666D-2C05-8530-C7D3-C5A494D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>
            <a:extLst>
              <a:ext uri="{FF2B5EF4-FFF2-40B4-BE49-F238E27FC236}">
                <a16:creationId xmlns:a16="http://schemas.microsoft.com/office/drawing/2014/main" id="{F092035E-BFCC-C67F-3009-F673A0E5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Century Gothic"/>
                <a:ea typeface="Hubot Sans Medium"/>
              </a:rPr>
              <a:t>Выводы</a:t>
            </a:r>
            <a:endParaRPr lang="fr-FR" b="1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7" name="PlaceHolder 2">
            <a:extLst>
              <a:ext uri="{FF2B5EF4-FFF2-40B4-BE49-F238E27FC236}">
                <a16:creationId xmlns:a16="http://schemas.microsoft.com/office/drawing/2014/main" id="{6A405607-D617-23F4-8983-AA2195CC5AB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4206" y="1893970"/>
            <a:ext cx="5555502" cy="216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Все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поставленные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цели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и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задачи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выполнены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.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Игра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соответсвует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изначальной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задумке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и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выполняет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все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необходимые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entury Gothic"/>
                <a:ea typeface="Malgun Gothic"/>
              </a:rPr>
              <a:t>функции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Malgun Gothic"/>
              </a:rPr>
              <a:t>.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entury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4056508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Экран (16:9)</PresentationFormat>
  <Slides>10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Minimal Gradient Pitch Deck by Slidesgo</vt:lpstr>
      <vt:lpstr>Slidesgo Final Pages</vt:lpstr>
      <vt:lpstr>Обучающий Wordle  </vt:lpstr>
      <vt:lpstr>Что такое Wordle?</vt:lpstr>
      <vt:lpstr>Цель проекта и идея игры</vt:lpstr>
      <vt:lpstr>Значимость английского языка</vt:lpstr>
      <vt:lpstr>Интерфейс: стартовое окно</vt:lpstr>
      <vt:lpstr>Интерфейс: игровое окно</vt:lpstr>
      <vt:lpstr>Интерфейс: игровое окно</vt:lpstr>
      <vt:lpstr>Уникальность</vt:lpstr>
      <vt:lpstr>Возможности расширения</vt:lpstr>
      <vt:lpstr>Выводы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187</cp:revision>
  <dcterms:modified xsi:type="dcterms:W3CDTF">2025-11-23T21:59:38Z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2025-11-20T11:20:23Z</dcterms:created>
  <dc:creator>Unknown Creator</dc:creator>
  <dc:description/>
  <dc:language>en-US</dc:language>
  <cp:lastModifiedBy>Unknown Creator</cp:lastModifiedBy>
  <dcterms:modified xsi:type="dcterms:W3CDTF">2025-11-20T11:20:23Z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